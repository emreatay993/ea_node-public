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6400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1554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Transient Section Resultants from MSUP Modal Coordinates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97480"/>
            <a:ext cx="1069848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900" b="0" i="0">
                <a:solidFill>
                  <a:srgbClr val="5B9BD5"/>
                </a:solidFill>
                <a:latin typeface="Calibri"/>
              </a:rPr>
              <a:t>Methodology &amp; Theory — section forces and moments reconstructed from a modal file.rst and an MSUP file.mcf, without a transient result file</a:t>
            </a:r>
          </a:p>
        </p:txBody>
      </p:sp>
      <p:pic>
        <p:nvPicPr>
          <p:cNvPr id="6" name="Picture 5" descr="fig_hero_equ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6900" y="4343400"/>
            <a:ext cx="6327720" cy="1417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989320"/>
            <a:ext cx="106984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300" b="0" i="0">
                <a:solidFill>
                  <a:srgbClr val="BFD3E6"/>
                </a:solidFill>
                <a:latin typeface="Calibri"/>
              </a:rPr>
              <a:t>examples/ansys_transient_extraction/mcf_dpf_section_resultants_gui.py   ·   method walkthrough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7498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Motivation — skip the transient result 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5623560" cy="4937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 i="0">
                <a:solidFill>
                  <a:srgbClr val="C55A11"/>
                </a:solidFill>
                <a:latin typeface="Calibri"/>
              </a:rPr>
              <a:t>▸  </a:t>
            </a:r>
            <a:r>
              <a:rPr sz="1800" b="1" i="0">
                <a:solidFill>
                  <a:srgbClr val="232A31"/>
                </a:solidFill>
                <a:latin typeface="Calibri"/>
              </a:rPr>
              <a:t>A full transient RST stores every field at every time step</a:t>
            </a:r>
            <a:r>
              <a:rPr sz="1800" b="0" i="0">
                <a:solidFill>
                  <a:srgbClr val="232A31"/>
                </a:solidFill>
                <a:latin typeface="Calibri"/>
              </a:rPr>
              <a:t> — gigabytes, slow to write and to read.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 i="0">
                <a:solidFill>
                  <a:srgbClr val="C55A11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232A31"/>
                </a:solidFill>
                <a:latin typeface="Calibri"/>
              </a:rPr>
              <a:t>The deliverable is usually a handful of section resultants, not the whole field.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 i="0">
                <a:solidFill>
                  <a:srgbClr val="C55A11"/>
                </a:solidFill>
                <a:latin typeface="Calibri"/>
              </a:rPr>
              <a:t>▸  </a:t>
            </a:r>
            <a:r>
              <a:rPr sz="1800" b="1" i="0">
                <a:solidFill>
                  <a:srgbClr val="232A31"/>
                </a:solidFill>
                <a:latin typeface="Calibri"/>
              </a:rPr>
              <a:t>An MSUP solve already stores the modes and the modal coordinates</a:t>
            </a:r>
            <a:r>
              <a:rPr sz="1800" b="0" i="0">
                <a:solidFill>
                  <a:srgbClr val="232A31"/>
                </a:solidFill>
                <a:latin typeface="Calibri"/>
              </a:rPr>
              <a:t> — reuse them.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 i="0">
                <a:solidFill>
                  <a:srgbClr val="C55A11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232A31"/>
                </a:solidFill>
                <a:latin typeface="Calibri"/>
              </a:rPr>
              <a:t>Output is one compact CSV of F(t), M(t) across the cut.</a:t>
            </a:r>
          </a:p>
        </p:txBody>
      </p:sp>
      <p:pic>
        <p:nvPicPr>
          <p:cNvPr id="6" name="Picture 5" descr="fig_siz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435498"/>
            <a:ext cx="5440680" cy="453564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55664"/>
            <a:ext cx="8229600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Calibri"/>
              </a:rPr>
              <a:t>MSUP MCF + DPF Section Resultants — Methodology &amp; Theory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822960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7498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Theory — mode-superposition 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155680" cy="1554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 i="0">
                <a:solidFill>
                  <a:srgbClr val="C55A11"/>
                </a:solidFill>
                <a:latin typeface="Calibri"/>
              </a:rPr>
              <a:t>▸  </a:t>
            </a:r>
            <a:r>
              <a:rPr sz="1800" b="1" i="0">
                <a:solidFill>
                  <a:srgbClr val="232A31"/>
                </a:solidFill>
                <a:latin typeface="Calibri"/>
              </a:rPr>
              <a:t>Modal solve</a:t>
            </a:r>
            <a:r>
              <a:rPr sz="1800" b="0" i="0">
                <a:solidFill>
                  <a:srgbClr val="232A31"/>
                </a:solidFill>
                <a:latin typeface="Calibri"/>
              </a:rPr>
              <a:t> — eigenmodes φⱼ and modal-set IDs, stored in the modal file.rst.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 i="0">
                <a:solidFill>
                  <a:srgbClr val="C55A11"/>
                </a:solidFill>
                <a:latin typeface="Calibri"/>
              </a:rPr>
              <a:t>▸  </a:t>
            </a:r>
            <a:r>
              <a:rPr sz="1800" b="1" i="0">
                <a:solidFill>
                  <a:srgbClr val="232A31"/>
                </a:solidFill>
                <a:latin typeface="Calibri"/>
              </a:rPr>
              <a:t>MSUP transient</a:t>
            </a:r>
            <a:r>
              <a:rPr sz="1800" b="0" i="0">
                <a:solidFill>
                  <a:srgbClr val="232A31"/>
                </a:solidFill>
                <a:latin typeface="Calibri"/>
              </a:rPr>
              <a:t> — modal coordinates qⱼ(t) written to Jobname.mcf;  u(t) = Σⱼ φⱼ qⱼ(t).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 i="0">
                <a:solidFill>
                  <a:srgbClr val="C55A11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232A31"/>
                </a:solidFill>
                <a:latin typeface="Calibri"/>
              </a:rPr>
              <a:t>Two committed command snippets wire the stages; the transient RST is suppressed.</a:t>
            </a:r>
          </a:p>
        </p:txBody>
      </p:sp>
      <p:pic>
        <p:nvPicPr>
          <p:cNvPr id="6" name="Picture 5" descr="fig_two_stage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201" y="2788920"/>
            <a:ext cx="8302836" cy="3520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55664"/>
            <a:ext cx="8229600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Calibri"/>
              </a:rPr>
              <a:t>MSUP MCF + DPF Section Resultants — Methodology &amp; Theory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822960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7498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Theory — modal nodal forces (ENF / NLOAD)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5623560" cy="4937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 i="0">
                <a:solidFill>
                  <a:srgbClr val="C55A11"/>
                </a:solidFill>
                <a:latin typeface="Calibri"/>
              </a:rPr>
              <a:t>▸  </a:t>
            </a:r>
            <a:r>
              <a:rPr sz="1800" b="1" i="0">
                <a:solidFill>
                  <a:srgbClr val="232A31"/>
                </a:solidFill>
                <a:latin typeface="Calibri"/>
              </a:rPr>
              <a:t>OUTRES,NLOAD</a:t>
            </a:r>
            <a:r>
              <a:rPr sz="1800" b="0" i="0">
                <a:solidFill>
                  <a:srgbClr val="232A31"/>
                </a:solidFill>
                <a:latin typeface="Calibri"/>
              </a:rPr>
              <a:t> — writes the elemental nodal forces that force_summation sums.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 i="0">
                <a:solidFill>
                  <a:srgbClr val="C55A11"/>
                </a:solidFill>
                <a:latin typeface="Calibri"/>
              </a:rPr>
              <a:t>▸  </a:t>
            </a:r>
            <a:r>
              <a:rPr sz="1800" b="1" i="0">
                <a:solidFill>
                  <a:srgbClr val="232A31"/>
                </a:solidFill>
                <a:latin typeface="Calibri"/>
              </a:rPr>
              <a:t>OUTRES,NSOL</a:t>
            </a:r>
            <a:r>
              <a:rPr sz="1800" b="0" i="0">
                <a:solidFill>
                  <a:srgbClr val="232A31"/>
                </a:solidFill>
                <a:latin typeface="Calibri"/>
              </a:rPr>
              <a:t> — keeps the nodal solution for the section node set.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 i="0">
                <a:solidFill>
                  <a:srgbClr val="C55A11"/>
                </a:solidFill>
                <a:latin typeface="Calibri"/>
              </a:rPr>
              <a:t>▸  </a:t>
            </a:r>
            <a:r>
              <a:rPr sz="1800" b="1" i="0">
                <a:solidFill>
                  <a:srgbClr val="232A31"/>
                </a:solidFill>
                <a:latin typeface="Calibri"/>
              </a:rPr>
              <a:t>MXPAND … ELCALC=YES</a:t>
            </a:r>
            <a:r>
              <a:rPr sz="1800" b="0" i="0">
                <a:solidFill>
                  <a:srgbClr val="232A31"/>
                </a:solidFill>
                <a:latin typeface="Calibri"/>
              </a:rPr>
              <a:t> — expands the modes WITH element results, so the forces exist per mode.</a:t>
            </a:r>
          </a:p>
        </p:txBody>
      </p:sp>
      <p:pic>
        <p:nvPicPr>
          <p:cNvPr id="6" name="Picture 5" descr="fig_modal_snipp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014754"/>
            <a:ext cx="5440680" cy="337713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55664"/>
            <a:ext cx="8229600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Calibri"/>
              </a:rPr>
              <a:t>MSUP MCF + DPF Section Resultants — Methodology &amp; Theory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822960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7498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Theory — the free-body section cut (NFORCE)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5623560" cy="4937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 i="0">
                <a:solidFill>
                  <a:srgbClr val="C55A11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232A31"/>
                </a:solidFill>
                <a:latin typeface="Calibri"/>
              </a:rPr>
              <a:t>Pick an element named selection; cut it with a plane (origin + a local-axis normal).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 i="0">
                <a:solidFill>
                  <a:srgbClr val="C55A11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232A31"/>
                </a:solidFill>
                <a:latin typeface="Calibri"/>
              </a:rPr>
              <a:t>Signed distance  d = (node − origin)·n  classifies each element as cut or not-cut.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 i="0">
                <a:solidFill>
                  <a:srgbClr val="C55A11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232A31"/>
                </a:solidFill>
                <a:latin typeface="Calibri"/>
              </a:rPr>
              <a:t>Sum the cut elements' nodal forces over the nodes on the requested side = the section resultant.</a:t>
            </a:r>
          </a:p>
        </p:txBody>
      </p:sp>
      <p:pic>
        <p:nvPicPr>
          <p:cNvPr id="6" name="Picture 5" descr="fig_section_c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634227"/>
            <a:ext cx="5440680" cy="41381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55664"/>
            <a:ext cx="8229600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Calibri"/>
              </a:rPr>
              <a:t>MSUP MCF + DPF Section Resultants — Methodology &amp; Theory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822960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7498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Theory — the superposition coefficient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155680" cy="1554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 i="0">
                <a:solidFill>
                  <a:srgbClr val="C55A11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232A31"/>
                </a:solidFill>
                <a:latin typeface="Calibri"/>
              </a:rPr>
              <a:t>Section nodal forces are linear in displacement, so  R(t) = Σⱼ Cⱼ qⱼ(t).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 i="0">
                <a:solidFill>
                  <a:srgbClr val="C55A11"/>
                </a:solidFill>
                <a:latin typeface="Calibri"/>
              </a:rPr>
              <a:t>▸  </a:t>
            </a:r>
            <a:r>
              <a:rPr sz="1800" b="1" i="0">
                <a:solidFill>
                  <a:srgbClr val="232A31"/>
                </a:solidFill>
                <a:latin typeface="Calibri"/>
              </a:rPr>
              <a:t>Cⱼ</a:t>
            </a:r>
            <a:r>
              <a:rPr sz="1800" b="0" i="0">
                <a:solidFill>
                  <a:srgbClr val="232A31"/>
                </a:solidFill>
                <a:latin typeface="Calibri"/>
              </a:rPr>
              <a:t> — the six-component section resultant that mode j alone produces.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 i="0">
                <a:solidFill>
                  <a:srgbClr val="C55A11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232A31"/>
                </a:solidFill>
                <a:latin typeface="Calibri"/>
              </a:rPr>
              <a:t>force_summation runs once per mode to build C; the time history is a cheap matrix–vector product.</a:t>
            </a:r>
          </a:p>
        </p:txBody>
      </p:sp>
      <p:pic>
        <p:nvPicPr>
          <p:cNvPr id="6" name="Picture 5" descr="fig_matv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800" y="2788920"/>
            <a:ext cx="9777639" cy="3520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55664"/>
            <a:ext cx="8229600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Calibri"/>
              </a:rPr>
              <a:t>MSUP MCF + DPF Section Resultants — Methodology &amp; Theory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822960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7498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Feature — the extraction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07008"/>
            <a:ext cx="1115568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 i="0">
                <a:solidFill>
                  <a:srgbClr val="C55A11"/>
                </a:solidFill>
                <a:latin typeface="Calibri"/>
              </a:rPr>
              <a:t>▸  </a:t>
            </a:r>
            <a:r>
              <a:rPr sz="1800" b="1" i="0">
                <a:solidFill>
                  <a:srgbClr val="232A31"/>
                </a:solidFill>
                <a:latin typeface="Calibri"/>
              </a:rPr>
              <a:t>extract_section_resultants() chains nine stages</a:t>
            </a:r>
            <a:r>
              <a:rPr sz="1800" b="0" i="0">
                <a:solidFill>
                  <a:srgbClr val="232A31"/>
                </a:solidFill>
                <a:latin typeface="Calibri"/>
              </a:rPr>
              <a:t> — the expensive DPF work happens once per mode, the per-time-step work is arithmetic.</a:t>
            </a:r>
          </a:p>
        </p:txBody>
      </p:sp>
      <p:pic>
        <p:nvPicPr>
          <p:cNvPr id="6" name="Picture 5" descr="fi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762" y="2011680"/>
            <a:ext cx="10137714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55664"/>
            <a:ext cx="8229600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Calibri"/>
              </a:rPr>
              <a:t>MSUP MCF + DPF Section Resultants — Methodology &amp; Theory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822960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7498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Theory — moment transfer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5623560" cy="4937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 i="0">
                <a:solidFill>
                  <a:srgbClr val="C55A11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232A31"/>
                </a:solidFill>
                <a:latin typeface="Calibri"/>
              </a:rPr>
              <a:t>force_summation returns the moment about the global origin.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 i="0">
                <a:solidFill>
                  <a:srgbClr val="C55A11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232A31"/>
                </a:solidFill>
                <a:latin typeface="Calibri"/>
              </a:rPr>
              <a:t>Transfer to any reference point:  M_ref = M_O − ref × F  (the force is unchanged).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 i="0">
                <a:solidFill>
                  <a:srgbClr val="C55A11"/>
                </a:solidFill>
                <a:latin typeface="Calibri"/>
              </a:rPr>
              <a:t>▸  </a:t>
            </a:r>
            <a:r>
              <a:rPr sz="1800" b="1" i="0">
                <a:solidFill>
                  <a:srgbClr val="232A31"/>
                </a:solidFill>
                <a:latin typeface="Calibri"/>
              </a:rPr>
              <a:t>Three reference modes</a:t>
            </a:r>
            <a:r>
              <a:rPr sz="1800" b="0" i="0">
                <a:solidFill>
                  <a:srgbClr val="232A31"/>
                </a:solidFill>
                <a:latin typeface="Calibri"/>
              </a:rPr>
              <a:t> — coordinate-system origin · Mechanical-probe mesh centroid · selected-side node centroid.</a:t>
            </a:r>
          </a:p>
        </p:txBody>
      </p:sp>
      <p:pic>
        <p:nvPicPr>
          <p:cNvPr id="6" name="Picture 5" descr="fig_moment_transf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025392"/>
            <a:ext cx="5440680" cy="335585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55664"/>
            <a:ext cx="8229600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Calibri"/>
              </a:rPr>
              <a:t>MSUP MCF + DPF Section Resultants — Methodology &amp; Theory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822960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7498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Feature — force-type families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155680" cy="1554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 i="0">
                <a:solidFill>
                  <a:srgbClr val="C55A11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232A31"/>
                </a:solidFill>
                <a:latin typeface="Calibri"/>
              </a:rPr>
              <a:t>force_type selects which force family is summed.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 i="0">
                <a:solidFill>
                  <a:srgbClr val="C55A11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232A31"/>
                </a:solidFill>
                <a:latin typeface="Calibri"/>
              </a:rPr>
              <a:t>Static (1) matches the Mechanical probe;  Total (0) adds damping + inertia.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 i="0">
                <a:solidFill>
                  <a:srgbClr val="C55A11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232A31"/>
                </a:solidFill>
                <a:latin typeface="Calibri"/>
              </a:rPr>
              <a:t>Damping (2) and Inertia (3) require those contributions to be stored in the RST.</a:t>
            </a:r>
          </a:p>
        </p:txBody>
      </p:sp>
      <p:pic>
        <p:nvPicPr>
          <p:cNvPr id="6" name="Picture 5" descr="fig_force_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3002" y="2788920"/>
            <a:ext cx="7761234" cy="3520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55664"/>
            <a:ext cx="8229600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Calibri"/>
              </a:rPr>
              <a:t>MSUP MCF + DPF Section Resultants — Methodology &amp; Theory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822960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7498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Theory — global vs local result frames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5623560" cy="4937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 i="0">
                <a:solidFill>
                  <a:srgbClr val="C55A11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232A31"/>
                </a:solidFill>
                <a:latin typeface="Calibri"/>
              </a:rPr>
              <a:t>Results are reported in both the global XYZ frame and the local coordinate-system frame.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 i="0">
                <a:solidFill>
                  <a:srgbClr val="C55A11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232A31"/>
                </a:solidFill>
                <a:latin typeface="Calibri"/>
              </a:rPr>
              <a:t>rotate_to_local projects F and M onto the local axes by dot products.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 i="0">
                <a:solidFill>
                  <a:srgbClr val="C55A11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232A31"/>
                </a:solidFill>
                <a:latin typeface="Calibri"/>
              </a:rPr>
              <a:t>Axes are validated orthonormal (det ≈ +1) before use.</a:t>
            </a:r>
          </a:p>
        </p:txBody>
      </p:sp>
      <p:pic>
        <p:nvPicPr>
          <p:cNvPr id="6" name="Picture 5" descr="fig_tri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624741"/>
            <a:ext cx="5440680" cy="415715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55664"/>
            <a:ext cx="8229600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Calibri"/>
              </a:rPr>
              <a:t>MSUP MCF + DPF Section Resultants — Methodology &amp; Theory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822960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7498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Feature — coordinate-system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155680" cy="1554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 i="0">
                <a:solidFill>
                  <a:srgbClr val="C55A11"/>
                </a:solidFill>
                <a:latin typeface="Calibri"/>
              </a:rPr>
              <a:t>▸  </a:t>
            </a:r>
            <a:r>
              <a:rPr sz="1800" b="1" i="0">
                <a:solidFill>
                  <a:srgbClr val="232A31"/>
                </a:solidFill>
                <a:latin typeface="Calibri"/>
              </a:rPr>
              <a:t>Coordinate systems are discovered from three sources</a:t>
            </a:r>
            <a:r>
              <a:rPr sz="1800" b="0" i="0">
                <a:solidFill>
                  <a:srgbClr val="232A31"/>
                </a:solidFill>
                <a:latin typeface="Calibri"/>
              </a:rPr>
              <a:t> — the DPF operator, CAERep.xml, and ds.dat APDL names.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 i="0">
                <a:solidFill>
                  <a:srgbClr val="C55A11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232A31"/>
                </a:solidFill>
                <a:latin typeface="Calibri"/>
              </a:rPr>
              <a:t>Merged, scored, and labelled into a searchable dropdown with a Scan button.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 i="0">
                <a:solidFill>
                  <a:srgbClr val="C55A11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232A31"/>
                </a:solidFill>
                <a:latin typeface="Calibri"/>
              </a:rPr>
              <a:t>Origin entered in millimetres is converted to the mesh solver unit.</a:t>
            </a:r>
          </a:p>
        </p:txBody>
      </p:sp>
      <p:pic>
        <p:nvPicPr>
          <p:cNvPr id="6" name="Picture 5" descr="fig_cs_discov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766" y="2788920"/>
            <a:ext cx="6587706" cy="3520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55664"/>
            <a:ext cx="8229600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Calibri"/>
              </a:rPr>
              <a:t>MSUP MCF + DPF Section Resultants — Methodology &amp; Theory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822960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7498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Feature — units and the output 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155680" cy="1554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 i="0">
                <a:solidFill>
                  <a:srgbClr val="C55A11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232A31"/>
                </a:solidFill>
                <a:latin typeface="Calibri"/>
              </a:rPr>
              <a:t>Force unit comes from the DPF field; moment unit = force × mesh length (e.g. N mm).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 i="0">
                <a:solidFill>
                  <a:srgbClr val="C55A11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232A31"/>
                </a:solidFill>
                <a:latin typeface="Calibri"/>
              </a:rPr>
              <a:t>The 13-column CSV carries the resolved unit in every header.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 i="0">
                <a:solidFill>
                  <a:srgbClr val="C55A11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232A31"/>
                </a:solidFill>
                <a:latin typeface="Calibri"/>
              </a:rPr>
              <a:t>A moment-unit selector converts the plotted history (N mm, N m, kN m, lbf in, …).</a:t>
            </a:r>
          </a:p>
        </p:txBody>
      </p:sp>
      <p:pic>
        <p:nvPicPr>
          <p:cNvPr id="6" name="Picture 5" descr="fig_csv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8528" y="2788920"/>
            <a:ext cx="8870182" cy="3520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55664"/>
            <a:ext cx="8229600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Calibri"/>
              </a:rPr>
              <a:t>MSUP MCF + DPF Section Resultants — Methodology &amp; Theory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822960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7498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Feature — the upstream Mechanical snippets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55680" cy="4754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 i="0">
                <a:solidFill>
                  <a:srgbClr val="C55A11"/>
                </a:solidFill>
                <a:latin typeface="Calibri"/>
              </a:rPr>
              <a:t>▸  </a:t>
            </a:r>
            <a:r>
              <a:rPr sz="1800" b="1" i="0">
                <a:solidFill>
                  <a:srgbClr val="232A31"/>
                </a:solidFill>
                <a:latin typeface="Calibri"/>
              </a:rPr>
              <a:t>Modal 'Get Solve Commands'</a:t>
            </a:r>
            <a:r>
              <a:rPr sz="1800" b="0" i="0">
                <a:solidFill>
                  <a:srgbClr val="232A31"/>
                </a:solidFill>
                <a:latin typeface="Calibri"/>
              </a:rPr>
              <a:t> — write NLOAD / NSOL for the section set and expand with ELCALC.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 i="0">
                <a:solidFill>
                  <a:srgbClr val="C55A11"/>
                </a:solidFill>
                <a:latin typeface="Calibri"/>
              </a:rPr>
              <a:t>▸  </a:t>
            </a:r>
            <a:r>
              <a:rPr sz="1800" b="1" i="0">
                <a:solidFill>
                  <a:srgbClr val="232A31"/>
                </a:solidFill>
                <a:latin typeface="Calibri"/>
              </a:rPr>
              <a:t>Transient 'Get Solve Commands'</a:t>
            </a:r>
            <a:r>
              <a:rPr sz="1800" b="0" i="0">
                <a:solidFill>
                  <a:srgbClr val="232A31"/>
                </a:solidFill>
                <a:latin typeface="Calibri"/>
              </a:rPr>
              <a:t> — mcfopt,1 writes the MCF; outres,all,none suppresses the transient RST.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 i="0">
                <a:solidFill>
                  <a:srgbClr val="C55A11"/>
                </a:solidFill>
                <a:latin typeface="Calibri"/>
              </a:rPr>
              <a:t>▸  </a:t>
            </a:r>
            <a:r>
              <a:rPr sz="1800" b="1" i="0">
                <a:solidFill>
                  <a:srgbClr val="232A31"/>
                </a:solidFill>
                <a:latin typeface="Calibri"/>
              </a:rPr>
              <a:t>'On After Solve'</a:t>
            </a:r>
            <a:r>
              <a:rPr sz="1800" b="0" i="0">
                <a:solidFill>
                  <a:srgbClr val="232A31"/>
                </a:solidFill>
                <a:latin typeface="Calibri"/>
              </a:rPr>
              <a:t> — an embedded IronPython twin reconstructs the same CSV inside Mechanical.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 i="0">
                <a:solidFill>
                  <a:srgbClr val="C55A11"/>
                </a:solidFill>
                <a:latin typeface="Calibri"/>
              </a:rPr>
              <a:t>▸  </a:t>
            </a:r>
            <a:r>
              <a:rPr sz="1800" b="1" i="0">
                <a:solidFill>
                  <a:srgbClr val="232A31"/>
                </a:solidFill>
                <a:latin typeface="Calibri"/>
              </a:rPr>
              <a:t>All are standard Mechanical callbacks</a:t>
            </a:r>
            <a:r>
              <a:rPr sz="1800" b="0" i="0">
                <a:solidFill>
                  <a:srgbClr val="232A31"/>
                </a:solidFill>
                <a:latin typeface="Calibri"/>
              </a:rPr>
              <a:t> — no external file is imported into the tree.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Calibri"/>
              </a:rPr>
              <a:t>MSUP MCF + DPF Section Resultants — Methodology &amp; Theory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55664"/>
            <a:ext cx="822960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7498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Feature — standalone tool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5623560" cy="4937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 i="0">
                <a:solidFill>
                  <a:srgbClr val="C55A11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232A31"/>
                </a:solidFill>
                <a:latin typeface="Calibri"/>
              </a:rPr>
              <a:t>Pure-Python core (parsing, moment math, units, CSV) runs with no ANSYS and is unit-testable.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 i="0">
                <a:solidFill>
                  <a:srgbClr val="C55A11"/>
                </a:solidFill>
                <a:latin typeface="Calibri"/>
              </a:rPr>
              <a:t>▸  </a:t>
            </a:r>
            <a:r>
              <a:rPr sz="1800" b="1" i="0">
                <a:solidFill>
                  <a:srgbClr val="232A31"/>
                </a:solidFill>
                <a:latin typeface="Calibri"/>
              </a:rPr>
              <a:t>Heavy deps (DPF, PyQt, PyVista) import lazily inside functions</a:t>
            </a:r>
            <a:r>
              <a:rPr sz="1800" b="0" i="0">
                <a:solidFill>
                  <a:srgbClr val="232A31"/>
                </a:solidFill>
                <a:latin typeface="Calibri"/>
              </a:rPr>
              <a:t> — importing the module is cheap.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 i="0">
                <a:solidFill>
                  <a:srgbClr val="C55A11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232A31"/>
                </a:solidFill>
                <a:latin typeface="Calibri"/>
              </a:rPr>
              <a:t>Metadata-first RST load, modal-set batching, and DPF version gating handle large models.</a:t>
            </a:r>
          </a:p>
        </p:txBody>
      </p:sp>
      <p:pic>
        <p:nvPicPr>
          <p:cNvPr id="6" name="Picture 5" descr="fig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833670"/>
            <a:ext cx="5440680" cy="373929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55664"/>
            <a:ext cx="8229600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Calibri"/>
              </a:rPr>
              <a:t>MSUP MCF + DPF Section Resultants — Methodology &amp; Theory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822960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7498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Feature — the PyQt GUI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07008"/>
            <a:ext cx="1115568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 i="0">
                <a:solidFill>
                  <a:srgbClr val="C55A11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232A31"/>
                </a:solidFill>
                <a:latin typeface="Calibri"/>
              </a:rPr>
              <a:t>A PyQt desktop GUI: file pickers, coordinate-system dropdown + Scan, origin and local-axis rows, section combos, batch/skip spins, and a searchable named-selection box. Extraction and visualization run off the UI thread.</a:t>
            </a:r>
          </a:p>
        </p:txBody>
      </p:sp>
      <p:pic>
        <p:nvPicPr>
          <p:cNvPr id="6" name="Picture 5" descr="fig_gui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337" y="2011680"/>
            <a:ext cx="7910564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55664"/>
            <a:ext cx="8229600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Calibri"/>
              </a:rPr>
              <a:t>MSUP MCF + DPF Section Resultants — Methodology &amp; Theory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822960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7498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Feature — 3D viewer and result-history plot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55680" cy="4754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 i="0">
                <a:solidFill>
                  <a:srgbClr val="C55A11"/>
                </a:solidFill>
                <a:latin typeface="Calibri"/>
              </a:rPr>
              <a:t>▸  </a:t>
            </a:r>
            <a:r>
              <a:rPr sz="1800" b="1" i="0">
                <a:solidFill>
                  <a:srgbClr val="232A31"/>
                </a:solidFill>
                <a:latin typeface="Calibri"/>
              </a:rPr>
              <a:t>PyVistaQt viewer</a:t>
            </a:r>
            <a:r>
              <a:rPr sz="1800" b="0" i="0">
                <a:solidFill>
                  <a:srgbClr val="232A31"/>
                </a:solidFill>
                <a:latin typeface="Calibri"/>
              </a:rPr>
              <a:t> — cut elements (orange), section plane (teal), side nodes (red), per-node force glyphs, total force (blue) and moment (purple) vectors, moment-reference point (gold).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 i="0">
                <a:solidFill>
                  <a:srgbClr val="C55A11"/>
                </a:solidFill>
                <a:latin typeface="Calibri"/>
              </a:rPr>
              <a:t>▸  </a:t>
            </a:r>
            <a:r>
              <a:rPr sz="1800" b="1" i="0">
                <a:solidFill>
                  <a:srgbClr val="232A31"/>
                </a:solidFill>
                <a:latin typeface="Calibri"/>
              </a:rPr>
              <a:t>Matplotlib history dock</a:t>
            </a:r>
            <a:r>
              <a:rPr sz="1800" b="0" i="0">
                <a:solidFill>
                  <a:srgbClr val="232A31"/>
                </a:solidFill>
                <a:latin typeface="Calibri"/>
              </a:rPr>
              <a:t> — Global/Local toggle, moment-unit selector, hover read-out, and double-click a curve to jump the 3D view to that time.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 i="0">
                <a:solidFill>
                  <a:srgbClr val="C55A11"/>
                </a:solidFill>
                <a:latin typeface="Calibri"/>
              </a:rPr>
              <a:t>▸  </a:t>
            </a:r>
            <a:r>
              <a:rPr sz="1800" b="1" i="0">
                <a:solidFill>
                  <a:srgbClr val="232A31"/>
                </a:solidFill>
                <a:latin typeface="Calibri"/>
              </a:rPr>
              <a:t>Right-click</a:t>
            </a:r>
            <a:r>
              <a:rPr sz="1800" b="0" i="0">
                <a:solidFill>
                  <a:srgbClr val="232A31"/>
                </a:solidFill>
                <a:latin typeface="Calibri"/>
              </a:rPr>
              <a:t> — export per-node forces to a styled CSV or Excel workbook.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Calibri"/>
              </a:rPr>
              <a:t>MSUP MCF + DPF Section Resultants — Methodology &amp; Theory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55664"/>
            <a:ext cx="822960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7498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Feature — CLI / batch usage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155680" cy="1554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 i="0">
                <a:solidFill>
                  <a:srgbClr val="C55A11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232A31"/>
                </a:solidFill>
                <a:latin typeface="Calibri"/>
              </a:rPr>
              <a:t>The same engine runs headless for Slurm / batch post-processing via --cli, overriding a saved JSON config.</a:t>
            </a:r>
          </a:p>
        </p:txBody>
      </p:sp>
      <p:pic>
        <p:nvPicPr>
          <p:cNvPr id="6" name="Picture 5" descr="fig_cl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4219" y="2788920"/>
            <a:ext cx="8518800" cy="3520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55664"/>
            <a:ext cx="8229600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Calibri"/>
              </a:rPr>
              <a:t>MSUP MCF + DPF Section Resultants — Methodology &amp; Theory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822960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7498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Validation — against the Mechanical probe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5623560" cy="4937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 i="0">
                <a:solidFill>
                  <a:srgbClr val="C55A11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232A31"/>
                </a:solidFill>
                <a:latin typeface="Calibri"/>
              </a:rPr>
              <a:t>Compare the CSV against a Mechanical Construction Surface / Surface probe with Local Coord Summation.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 i="0">
                <a:solidFill>
                  <a:srgbClr val="C55A11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232A31"/>
                </a:solidFill>
                <a:latin typeface="Calibri"/>
              </a:rPr>
              <a:t>Match the probe's centroid summation point with moment_reference_mode = mechanical_probe_mesh_centroid.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 i="0">
                <a:solidFill>
                  <a:srgbClr val="C55A11"/>
                </a:solidFill>
                <a:latin typeface="Calibri"/>
              </a:rPr>
              <a:t>▸  </a:t>
            </a:r>
            <a:r>
              <a:rPr sz="1800" b="1" i="0">
                <a:solidFill>
                  <a:srgbClr val="232A31"/>
                </a:solidFill>
                <a:latin typeface="Calibri"/>
              </a:rPr>
              <a:t>Agreement is to numerical precision</a:t>
            </a:r>
            <a:r>
              <a:rPr sz="1800" b="0" i="0">
                <a:solidFill>
                  <a:srgbClr val="232A31"/>
                </a:solidFill>
                <a:latin typeface="Calibri"/>
              </a:rPr>
              <a:t> — same physics, a different execution path.</a:t>
            </a:r>
          </a:p>
        </p:txBody>
      </p:sp>
      <p:pic>
        <p:nvPicPr>
          <p:cNvPr id="6" name="Picture 5" descr="fig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858162"/>
            <a:ext cx="5440680" cy="36903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55664"/>
            <a:ext cx="8229600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Calibri"/>
              </a:rPr>
              <a:t>MSUP MCF + DPF Section Resultants — Methodology &amp; Theory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822960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7498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Limitations &amp; assumptions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55680" cy="4754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 i="0">
                <a:solidFill>
                  <a:srgbClr val="C55A11"/>
                </a:solidFill>
                <a:latin typeface="Calibri"/>
              </a:rPr>
              <a:t>▸  </a:t>
            </a:r>
            <a:r>
              <a:rPr sz="1800" b="1" i="0">
                <a:solidFill>
                  <a:srgbClr val="232A31"/>
                </a:solidFill>
                <a:latin typeface="Calibri"/>
              </a:rPr>
              <a:t>Linear MSUP recombination only</a:t>
            </a:r>
            <a:r>
              <a:rPr sz="1800" b="0" i="0">
                <a:solidFill>
                  <a:srgbClr val="232A31"/>
                </a:solidFill>
                <a:latin typeface="Calibri"/>
              </a:rPr>
              <a:t> — contact / large-deflection nonlinearity in the recombination breaks superposition.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 i="0">
                <a:solidFill>
                  <a:srgbClr val="C55A11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232A31"/>
                </a:solidFill>
                <a:latin typeface="Calibri"/>
              </a:rPr>
              <a:t>Requires OUTRES,NLOAD / NSOL and MXPAND ELCALC=YES; the damping / inertia families need that data stored.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 i="0">
                <a:solidFill>
                  <a:srgbClr val="C55A11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232A31"/>
                </a:solidFill>
                <a:latin typeface="Calibri"/>
              </a:rPr>
              <a:t>skip_first_modes must remove the same leading modes from the MCF columns and the RST modal sets.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 i="0">
                <a:solidFill>
                  <a:srgbClr val="C55A11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232A31"/>
                </a:solidFill>
                <a:latin typeface="Calibri"/>
              </a:rPr>
              <a:t>Coordinate-system axes must be orthonormal; the origin is taken in mm and converted to the mesh unit.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8229600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Calibri"/>
              </a:rPr>
              <a:t>MSUP MCF + DPF Section Resultants — Methodology &amp; Theory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55664"/>
            <a:ext cx="822960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Summary — 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607040" cy="4389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2000" b="1" i="0">
                <a:solidFill>
                  <a:srgbClr val="C55A11"/>
                </a:solidFill>
                <a:latin typeface="Calibri"/>
              </a:rPr>
              <a:t>▸  </a:t>
            </a:r>
            <a:r>
              <a:rPr sz="2000" b="0" i="0">
                <a:solidFill>
                  <a:srgbClr val="FFFFFF"/>
                </a:solidFill>
                <a:latin typeface="Calibri"/>
              </a:rPr>
              <a:t>One compact CSV instead of a multi-gigabyte transient result file.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2000" b="1" i="0">
                <a:solidFill>
                  <a:srgbClr val="C55A11"/>
                </a:solidFill>
                <a:latin typeface="Calibri"/>
              </a:rPr>
              <a:t>▸  </a:t>
            </a:r>
            <a:r>
              <a:rPr sz="2000" b="0" i="0">
                <a:solidFill>
                  <a:srgbClr val="FFFFFF"/>
                </a:solidFill>
                <a:latin typeface="Calibri"/>
              </a:rPr>
              <a:t>Physically exact for a linear MSUP recombination —  R(t) = Σⱼ Cⱼ qⱼ(t).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2000" b="1" i="0">
                <a:solidFill>
                  <a:srgbClr val="C55A11"/>
                </a:solidFill>
                <a:latin typeface="Calibri"/>
              </a:rPr>
              <a:t>▸  </a:t>
            </a:r>
            <a:r>
              <a:rPr sz="2000" b="0" i="0">
                <a:solidFill>
                  <a:srgbClr val="FFFFFF"/>
                </a:solidFill>
                <a:latin typeface="Calibri"/>
              </a:rPr>
              <a:t>force_summation runs once per mode; the transient is a cheap matrix–vector product.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2000" b="1" i="0">
                <a:solidFill>
                  <a:srgbClr val="C55A11"/>
                </a:solidFill>
                <a:latin typeface="Calibri"/>
              </a:rPr>
              <a:t>▸  </a:t>
            </a:r>
            <a:r>
              <a:rPr sz="2000" b="0" i="0">
                <a:solidFill>
                  <a:srgbClr val="FFFFFF"/>
                </a:solidFill>
                <a:latin typeface="Calibri"/>
              </a:rPr>
              <a:t>Standalone library + PyQt GUI + --cli batch, validated against the Mechanical Construction Surface probe.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989320"/>
            <a:ext cx="10607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400" b="0" i="0">
                <a:solidFill>
                  <a:srgbClr val="BFD3E6"/>
                </a:solidFill>
                <a:latin typeface="Calibri"/>
              </a:rPr>
              <a:t>Companion notebook:  mcf_dpf_section_resultants_methodology_walkthrough.ipynb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